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86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cover details, team names, submission date, and overall project identity. Institution name intentionally omitted from the presentation at the user’s request.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abstract, introduction, and problem statement describing the need for visual fire/smoke detection and the limitations of traditional sensor-based systems.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project aim, objectives, and scope sections describing what the prototype includes and what is intentionally outside the current implementation.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proposed methodology section covering image acquisition, preprocessing, fire detection, smoke detection, and final decision logic.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proposed system modules section: image upload, preprocessing, fire detection, smoke detection, noise removal/refinement, and decision/output.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tools and technologies section plus methodology details about HSV/RGB fire detection, smoke detection constraints, contour analysis, and filtering.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expected outcomes, significance, and feasibility sections describing the educational value, practical importance, and technical/economic/operational feasibility of the project.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document: project CV.docx — proposed timeline, future enhancements, and conclusion sections describing the 7-week plan and possible next-stage improvements.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822960"/>
            <a:ext cx="3931920" cy="3931920"/>
          </a:xfrm>
          <a:prstGeom prst="ellipse">
            <a:avLst/>
          </a:prstGeom>
          <a:solidFill>
            <a:srgbClr val="FF7A00">
              <a:alpha val="16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371600"/>
            <a:ext cx="2743200" cy="2743200"/>
          </a:xfrm>
          <a:prstGeom prst="ellipse">
            <a:avLst/>
          </a:prstGeom>
          <a:solidFill>
            <a:srgbClr val="FF4D4D">
              <a:alpha val="25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3520440"/>
            <a:ext cx="3840480" cy="155448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88352" y="1225296"/>
            <a:ext cx="3611880" cy="3611880"/>
          </a:xfrm>
          <a:prstGeom prst="arc">
            <a:avLst/>
          </a:prstGeom>
          <a:solidFill>
            <a:srgbClr val="0B0F14">
              <a:alpha val="0"/>
            </a:srgbClr>
          </a:solidFill>
          <a:ln w="27940">
            <a:solidFill>
              <a:srgbClr val="FFFFF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2048256"/>
            <a:ext cx="914400" cy="137160"/>
          </a:xfrm>
          <a:prstGeom prst="line">
            <a:avLst/>
          </a:prstGeom>
          <a:noFill/>
          <a:ln w="13970">
            <a:solidFill>
              <a:srgbClr val="FFFFFF">
                <a:alpha val="56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924544" y="2999232"/>
            <a:ext cx="960120" cy="0"/>
          </a:xfrm>
          <a:prstGeom prst="line">
            <a:avLst/>
          </a:prstGeom>
          <a:noFill/>
          <a:ln w="13970">
            <a:solidFill>
              <a:srgbClr val="FF7A00">
                <a:alpha val="82000"/>
              </a:srgbClr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86384" y="731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207008"/>
            <a:ext cx="5303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FIRE &amp; SMOKE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86384" y="29992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Image-based hazard detection using Python and OpenCV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" y="3730752"/>
            <a:ext cx="1051560" cy="0"/>
          </a:xfrm>
          <a:prstGeom prst="line">
            <a:avLst/>
          </a:prstGeom>
          <a:noFill/>
          <a:ln w="27940">
            <a:solidFill>
              <a:srgbClr val="FF7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4169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Mahdiah Rasool  •  Ejaz-us-Saboor  •  Ehtisham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4480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to: Mr. Muhammad Azhar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4709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April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5614416"/>
            <a:ext cx="2880360" cy="438912"/>
          </a:xfrm>
          <a:prstGeom prst="roundRect">
            <a:avLst>
              <a:gd name="adj" fmla="val 16667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Low-cost academic prototype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22192" y="5614416"/>
            <a:ext cx="2331720" cy="438912"/>
          </a:xfrm>
          <a:prstGeom prst="roundRect">
            <a:avLst>
              <a:gd name="adj" fmla="val 16667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/ Smoke / Both / None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292840" y="621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2920"/>
            <a:ext cx="3291840" cy="3291840"/>
          </a:xfrm>
          <a:prstGeom prst="ellipse">
            <a:avLst/>
          </a:prstGeom>
          <a:solidFill>
            <a:srgbClr val="FF7A00">
              <a:alpha val="1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3063240"/>
            <a:ext cx="3108960" cy="173736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596128"/>
            <a:ext cx="1463040" cy="822960"/>
          </a:xfrm>
          <a:prstGeom prst="ellipse">
            <a:avLst/>
          </a:prstGeom>
          <a:solidFill>
            <a:srgbClr val="FF7A00">
              <a:alpha val="7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2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1089964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0272" y="402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5727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sensor-based systems can miss early visual clues in large or open environments.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PROJECT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3136392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4495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Heat, gas, or smoke sensors may respond late in outdoor or wide spaces.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584448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930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camera can analyze visible flames and smoke directly from the scene.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" y="4032504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4106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also targets dark smoke and fewer false positives.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1828800"/>
            <a:ext cx="4160520" cy="2971800"/>
          </a:xfrm>
          <a:prstGeom prst="roundRect">
            <a:avLst>
              <a:gd name="adj" fmla="val 2462"/>
            </a:avLst>
          </a:prstGeom>
          <a:solidFill>
            <a:srgbClr val="111826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77456" y="2084832"/>
            <a:ext cx="3630168" cy="2029968"/>
          </a:xfrm>
          <a:prstGeom prst="rect">
            <a:avLst/>
          </a:prstGeom>
          <a:solidFill>
            <a:srgbClr val="0F141D"/>
          </a:solidFill>
          <a:ln w="12700">
            <a:solidFill>
              <a:srgbClr val="1F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00032" y="2322576"/>
            <a:ext cx="676656" cy="676656"/>
          </a:xfrm>
          <a:prstGeom prst="ellipse">
            <a:avLst/>
          </a:prstGeom>
          <a:solidFill>
            <a:srgbClr val="FF7A00">
              <a:alpha val="8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64624" y="2450592"/>
            <a:ext cx="356616" cy="35661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743200"/>
            <a:ext cx="1115568" cy="530352"/>
          </a:xfrm>
          <a:prstGeom prst="ellipse">
            <a:avLst/>
          </a:prstGeom>
          <a:solidFill>
            <a:srgbClr val="D6DCE3">
              <a:alpha val="16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7696" y="2889504"/>
            <a:ext cx="932688" cy="457200"/>
          </a:xfrm>
          <a:prstGeom prst="ellipse">
            <a:avLst/>
          </a:prstGeom>
          <a:solidFill>
            <a:srgbClr val="D6DCE3">
              <a:alpha val="12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8592" y="2331720"/>
            <a:ext cx="475488" cy="219456"/>
          </a:xfrm>
          <a:prstGeom prst="line">
            <a:avLst/>
          </a:prstGeom>
          <a:noFill/>
          <a:ln w="12700">
            <a:solidFill>
              <a:srgbClr val="FF4D4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540496" y="2990088"/>
            <a:ext cx="1325880" cy="0"/>
          </a:xfrm>
          <a:prstGeom prst="line">
            <a:avLst/>
          </a:prstGeom>
          <a:noFill/>
          <a:ln w="12700">
            <a:solidFill>
              <a:srgbClr val="D6DCE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296912" y="4315968"/>
            <a:ext cx="1298448" cy="384048"/>
          </a:xfrm>
          <a:prstGeom prst="roundRect">
            <a:avLst>
              <a:gd name="adj" fmla="val 19048"/>
            </a:avLst>
          </a:prstGeom>
          <a:solidFill>
            <a:srgbClr val="2A1D16"/>
          </a:solidFill>
          <a:ln w="1270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05672" y="4315968"/>
            <a:ext cx="1426464" cy="384048"/>
          </a:xfrm>
          <a:prstGeom prst="roundRect">
            <a:avLst>
              <a:gd name="adj" fmla="val 19048"/>
            </a:avLst>
          </a:prstGeom>
          <a:solidFill>
            <a:srgbClr val="1C222A"/>
          </a:solidFill>
          <a:ln w="12700">
            <a:solidFill>
              <a:srgbClr val="D6DC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DC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31152" y="4983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cues can be captured directly from images and highlighted for quick interpretation.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" y="561441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warning value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99232" y="5614416"/>
            <a:ext cx="2148840" cy="438912"/>
          </a:xfrm>
          <a:prstGeom prst="roundRect">
            <a:avLst>
              <a:gd name="adj" fmla="val 16667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Image-based approach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5614416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prototype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2920"/>
            <a:ext cx="3291840" cy="3291840"/>
          </a:xfrm>
          <a:prstGeom prst="ellipse">
            <a:avLst/>
          </a:prstGeom>
          <a:solidFill>
            <a:srgbClr val="FF7A00">
              <a:alpha val="1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3063240"/>
            <a:ext cx="3108960" cy="173736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596128"/>
            <a:ext cx="1463040" cy="822960"/>
          </a:xfrm>
          <a:prstGeom prst="ellipse">
            <a:avLst/>
          </a:prstGeom>
          <a:solidFill>
            <a:srgbClr val="FF7A00">
              <a:alpha val="7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2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Aim, objectives &amp; scope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1089964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0272" y="402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5727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810512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 lightweight image-processing system that detects fire and smoke from uploaded images using OpenCV and Python.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49808" y="29077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OBJECTIVES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" y="3273552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821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visible fire regions through HSV + RGB color analysis.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" y="3685032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935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gray, white, and dark smoke using low-saturation constraints.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9808" y="4096512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050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false positives and mark valid regions with bounding boxes.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" y="4507992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165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a simple final label: fire, smoke, both, or none.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190195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C2C1D"/>
          </a:solidFill>
          <a:ln w="12700">
            <a:solidFill>
              <a:srgbClr val="B4E22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E2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395728"/>
            <a:ext cx="4160520" cy="1554480"/>
          </a:xfrm>
          <a:prstGeom prst="roundRect">
            <a:avLst>
              <a:gd name="adj" fmla="val 4706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2794" tIns="2794" rIns="2794" bIns="279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prototype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upload and preprocessing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+ smoke masks, contour analysis, labels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Python, OpenCV, NumPy, Google Colab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4224528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2A1B1B"/>
          </a:solidFill>
          <a:ln w="12700">
            <a:solidFill>
              <a:srgbClr val="FF7B7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1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in current scope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4718304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2794" tIns="2794" rIns="2794" bIns="279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Future-stage items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CCTV / webcam streaming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alarms or notifications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training or benchmarking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2920"/>
            <a:ext cx="3291840" cy="3291840"/>
          </a:xfrm>
          <a:prstGeom prst="ellipse">
            <a:avLst/>
          </a:prstGeom>
          <a:solidFill>
            <a:srgbClr val="FF7A00">
              <a:alpha val="1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3063240"/>
            <a:ext cx="3108960" cy="173736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596128"/>
            <a:ext cx="1463040" cy="822960"/>
          </a:xfrm>
          <a:prstGeom prst="ellipse">
            <a:avLst/>
          </a:prstGeom>
          <a:solidFill>
            <a:srgbClr val="FF7A00">
              <a:alpha val="7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2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methodology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1089964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0272" y="402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5727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converts an uploaded image into fire/smoke evidence and a final decision.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350008" y="2816352"/>
            <a:ext cx="576072" cy="530352"/>
          </a:xfrm>
          <a:prstGeom prst="chevron">
            <a:avLst/>
          </a:prstGeom>
          <a:solidFill>
            <a:srgbClr val="1E2733"/>
          </a:solidFill>
          <a:ln w="12700">
            <a:solidFill>
              <a:srgbClr val="25304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2816352"/>
            <a:ext cx="576072" cy="530352"/>
          </a:xfrm>
          <a:prstGeom prst="chevron">
            <a:avLst/>
          </a:prstGeom>
          <a:solidFill>
            <a:srgbClr val="1E2733"/>
          </a:solidFill>
          <a:ln w="12700">
            <a:solidFill>
              <a:srgbClr val="25304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816352"/>
            <a:ext cx="576072" cy="530352"/>
          </a:xfrm>
          <a:prstGeom prst="chevron">
            <a:avLst/>
          </a:prstGeom>
          <a:solidFill>
            <a:srgbClr val="1E2733"/>
          </a:solidFill>
          <a:ln w="12700">
            <a:solidFill>
              <a:srgbClr val="25304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55864" y="2816352"/>
            <a:ext cx="576072" cy="530352"/>
          </a:xfrm>
          <a:prstGeom prst="chevron">
            <a:avLst/>
          </a:prstGeom>
          <a:solidFill>
            <a:srgbClr val="1E2733"/>
          </a:solidFill>
          <a:ln w="12700">
            <a:solidFill>
              <a:srgbClr val="25304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468880"/>
            <a:ext cx="1508760" cy="1298448"/>
          </a:xfrm>
          <a:prstGeom prst="roundRect">
            <a:avLst>
              <a:gd name="adj" fmla="val 5634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uploads an image into the system.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9264" y="2807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acquisition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" y="25968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468880"/>
            <a:ext cx="1508760" cy="1298448"/>
          </a:xfrm>
          <a:prstGeom prst="roundRect">
            <a:avLst>
              <a:gd name="adj" fmla="val 5634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to HSV, grayscale, and split RGB channels.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2928" y="2807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52928" y="25968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36008" y="2468880"/>
            <a:ext cx="1508760" cy="1298448"/>
          </a:xfrm>
          <a:prstGeom prst="roundRect">
            <a:avLst>
              <a:gd name="adj" fmla="val 5634"/>
            </a:avLst>
          </a:prstGeom>
          <a:solidFill>
            <a:srgbClr val="27180F"/>
          </a:solidFill>
          <a:ln w="12700">
            <a:solidFill>
              <a:srgbClr val="253041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detection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warm colors and dominant red intensity.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45736" y="2807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Fire detection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45736" y="25968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65392" y="2468880"/>
            <a:ext cx="1508760" cy="1298448"/>
          </a:xfrm>
          <a:prstGeom prst="roundRect">
            <a:avLst>
              <a:gd name="adj" fmla="val 5634"/>
            </a:avLst>
          </a:prstGeom>
          <a:solidFill>
            <a:srgbClr val="1A2029"/>
          </a:solidFill>
          <a:ln w="12700">
            <a:solidFill>
              <a:srgbClr val="253041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detection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saturation + contour and edge filtering.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0" y="2807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Smoke detection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75120" y="25968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DC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2468880"/>
            <a:ext cx="1508760" cy="1298448"/>
          </a:xfrm>
          <a:prstGeom prst="roundRect">
            <a:avLst>
              <a:gd name="adj" fmla="val 5634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decision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 boxes and classify fire, smoke, both, or none.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13648" y="2807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decision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13648" y="25968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5010912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24170F"/>
          </a:solidFill>
          <a:ln w="1270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cues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39312" y="5010912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B222C"/>
          </a:solidFill>
          <a:ln w="12700">
            <a:solidFill>
              <a:srgbClr val="D6DC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DC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cues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72784" y="5010912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6212A"/>
          </a:solidFill>
          <a:ln w="12700">
            <a:solidFill>
              <a:srgbClr val="6AD1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D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reduction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0" y="5010912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D1E28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5559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HSV thresholds, RGB dominance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47872" y="5559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saturation, edge density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181344" y="5559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Morphology + contour filtering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961120" y="555955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Bounding boxes + label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2920"/>
            <a:ext cx="3291840" cy="3291840"/>
          </a:xfrm>
          <a:prstGeom prst="ellipse">
            <a:avLst/>
          </a:prstGeom>
          <a:solidFill>
            <a:srgbClr val="FF7A00">
              <a:alpha val="1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3063240"/>
            <a:ext cx="3108960" cy="173736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596128"/>
            <a:ext cx="1463040" cy="822960"/>
          </a:xfrm>
          <a:prstGeom prst="ellipse">
            <a:avLst/>
          </a:prstGeom>
          <a:solidFill>
            <a:srgbClr val="FF7A00">
              <a:alpha val="7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2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modules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1089964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0272" y="402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modules combine into one end-to-end detection pipeline.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24528" y="3785616"/>
            <a:ext cx="0" cy="0"/>
          </a:xfrm>
          <a:prstGeom prst="line">
            <a:avLst/>
          </a:prstGeom>
          <a:noFill/>
          <a:ln w="15240">
            <a:solidFill>
              <a:srgbClr val="3643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3785616"/>
            <a:ext cx="0" cy="0"/>
          </a:xfrm>
          <a:prstGeom prst="line">
            <a:avLst/>
          </a:prstGeom>
          <a:noFill/>
          <a:ln w="15240">
            <a:solidFill>
              <a:srgbClr val="364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2956294" y="3823384"/>
            <a:ext cx="719195" cy="716066"/>
          </a:xfrm>
          <a:prstGeom prst="line">
            <a:avLst/>
          </a:prstGeom>
          <a:noFill/>
          <a:ln w="15240">
            <a:solidFill>
              <a:srgbClr val="364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3785616"/>
            <a:ext cx="0" cy="1042416"/>
          </a:xfrm>
          <a:prstGeom prst="line">
            <a:avLst/>
          </a:prstGeom>
          <a:noFill/>
          <a:ln w="15240">
            <a:solidFill>
              <a:srgbClr val="3643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24528" y="3785616"/>
            <a:ext cx="0" cy="1435608"/>
          </a:xfrm>
          <a:prstGeom prst="line">
            <a:avLst/>
          </a:prstGeom>
          <a:noFill/>
          <a:ln w="15240">
            <a:solidFill>
              <a:srgbClr val="364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2376" y="3403257"/>
            <a:ext cx="1325880" cy="1042416"/>
          </a:xfrm>
          <a:prstGeom prst="line">
            <a:avLst/>
          </a:prstGeom>
          <a:noFill/>
          <a:ln w="15240">
            <a:solidFill>
              <a:srgbClr val="3643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081725"/>
            <a:ext cx="1389888" cy="1005840"/>
          </a:xfrm>
          <a:prstGeom prst="ellipse">
            <a:avLst/>
          </a:prstGeom>
          <a:solidFill>
            <a:srgbClr val="161E28"/>
          </a:solidFill>
          <a:ln w="1905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14984" y="2148244"/>
            <a:ext cx="1755648" cy="475488"/>
          </a:xfrm>
          <a:prstGeom prst="roundRect">
            <a:avLst>
              <a:gd name="adj" fmla="val 15385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upload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26080" y="2131397"/>
            <a:ext cx="1755648" cy="475488"/>
          </a:xfrm>
          <a:prstGeom prst="roundRect">
            <a:avLst>
              <a:gd name="adj" fmla="val 15385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64608" y="2124786"/>
            <a:ext cx="1755648" cy="475488"/>
          </a:xfrm>
          <a:prstGeom prst="roundRect">
            <a:avLst>
              <a:gd name="adj" fmla="val 15385"/>
            </a:avLst>
          </a:prstGeom>
          <a:solidFill>
            <a:srgbClr val="2A190F"/>
          </a:solidFill>
          <a:ln w="1270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detection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39012" y="4472012"/>
            <a:ext cx="1755648" cy="475488"/>
          </a:xfrm>
          <a:prstGeom prst="roundRect">
            <a:avLst>
              <a:gd name="adj" fmla="val 15385"/>
            </a:avLst>
          </a:prstGeom>
          <a:solidFill>
            <a:srgbClr val="1C232D"/>
          </a:solidFill>
          <a:ln w="12700">
            <a:solidFill>
              <a:srgbClr val="D6DC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detection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46704" y="5014290"/>
            <a:ext cx="1755648" cy="475488"/>
          </a:xfrm>
          <a:prstGeom prst="roundRect">
            <a:avLst>
              <a:gd name="adj" fmla="val 15385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removal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93206" y="4282771"/>
            <a:ext cx="1755648" cy="475488"/>
          </a:xfrm>
          <a:prstGeom prst="roundRect">
            <a:avLst>
              <a:gd name="adj" fmla="val 15385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&amp; output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0" y="1975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THEY INTERACT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2423160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and preprocessing prepare the image for analysis.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0" y="2944368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9792" y="2852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and smoke modules search for different visual cues.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15200" y="3465576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33741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removal suppresses irrelevant regions.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315200" y="3986784"/>
            <a:ext cx="100584" cy="100584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3895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and output merge detections into one clear result.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0" y="4700016"/>
            <a:ext cx="3566160" cy="475488"/>
          </a:xfrm>
          <a:prstGeom prst="roundRect">
            <a:avLst>
              <a:gd name="adj" fmla="val 15385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detection pipeline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2920"/>
            <a:ext cx="3291840" cy="3291840"/>
          </a:xfrm>
          <a:prstGeom prst="ellipse">
            <a:avLst/>
          </a:prstGeom>
          <a:solidFill>
            <a:srgbClr val="FF7A00">
              <a:alpha val="1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3063240"/>
            <a:ext cx="3108960" cy="173736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596128"/>
            <a:ext cx="1463040" cy="822960"/>
          </a:xfrm>
          <a:prstGeom prst="ellipse">
            <a:avLst/>
          </a:prstGeom>
          <a:solidFill>
            <a:srgbClr val="FF7A00">
              <a:alpha val="7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2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Tools, technologies &amp; detection logic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1089964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0272" y="402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719072"/>
            <a:ext cx="3063240" cy="4434840"/>
          </a:xfrm>
          <a:prstGeom prst="roundRect">
            <a:avLst>
              <a:gd name="adj" fmla="val 2388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2794" tIns="2794" rIns="2794" bIns="279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— main programming language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— masking, contours, and drawing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 — threshold and array operations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Colab — development environment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52544" y="1719072"/>
            <a:ext cx="3310128" cy="4434840"/>
          </a:xfrm>
          <a:prstGeom prst="roundRect">
            <a:avLst>
              <a:gd name="adj" fmla="val 2210"/>
            </a:avLst>
          </a:prstGeom>
          <a:solidFill>
            <a:srgbClr val="18130F"/>
          </a:solidFill>
          <a:ln w="12700">
            <a:solidFill>
              <a:srgbClr val="FF7A00"/>
            </a:solidFill>
          </a:ln>
        </p:spPr>
        <p:txBody>
          <a:bodyPr wrap="square" lIns="2794" tIns="2794" rIns="2794" bIns="279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logic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HSV ranges for red / orange / yellow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comparison where red is dominant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Morphological cleaning and contour filtering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Bounding-box checks to remove tiny noise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65008" y="1719072"/>
            <a:ext cx="3310128" cy="4434840"/>
          </a:xfrm>
          <a:prstGeom prst="roundRect">
            <a:avLst>
              <a:gd name="adj" fmla="val 2210"/>
            </a:avLst>
          </a:prstGeom>
          <a:solidFill>
            <a:srgbClr val="171D24"/>
          </a:solidFill>
          <a:ln w="12700">
            <a:solidFill>
              <a:srgbClr val="D6DCE3"/>
            </a:solidFill>
          </a:ln>
        </p:spPr>
        <p:txBody>
          <a:bodyPr wrap="square" lIns="2794" tIns="2794" rIns="2794" bIns="279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logic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saturation regions in HSV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bright white and sky-like regions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density and contour-shape constraints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gray, white, and black smoke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559612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24170F"/>
          </a:solidFill>
          <a:ln w="1270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true flame-like regions only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84464" y="5596128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1A1F29"/>
          </a:solidFill>
          <a:ln w="12700">
            <a:solidFill>
              <a:srgbClr val="D6DC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DC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fewer background false positives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2920"/>
            <a:ext cx="3291840" cy="3291840"/>
          </a:xfrm>
          <a:prstGeom prst="ellipse">
            <a:avLst/>
          </a:prstGeom>
          <a:solidFill>
            <a:srgbClr val="FF7A00">
              <a:alpha val="1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3063240"/>
            <a:ext cx="3108960" cy="173736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596128"/>
            <a:ext cx="1463040" cy="822960"/>
          </a:xfrm>
          <a:prstGeom prst="ellipse">
            <a:avLst/>
          </a:prstGeom>
          <a:solidFill>
            <a:srgbClr val="FF7A00">
              <a:alpha val="7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2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Outcomes, significance &amp; feasibility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1089964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0272" y="402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627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8745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working academic prototype that detects fire and smoke in still images and explains the result visually.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4672" y="299923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02B"/>
          </a:solidFill>
          <a:ln w="1270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detection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299923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02B"/>
          </a:solidFill>
          <a:ln w="12700">
            <a:solidFill>
              <a:srgbClr val="D6DC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detection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3584448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false positives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3584448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02B"/>
          </a:solidFill>
          <a:ln w="1270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output image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" y="4352544"/>
            <a:ext cx="4480560" cy="1243584"/>
          </a:xfrm>
          <a:prstGeom prst="roundRect">
            <a:avLst>
              <a:gd name="adj" fmla="val 5882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2794" tIns="2794" rIns="2794" bIns="279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how computer vision can support safety monitoring in a low-cost and understandable way.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8470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2128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7242B"/>
          </a:solidFill>
          <a:ln w="12700">
            <a:solidFill>
              <a:srgbClr val="6AD1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D1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6517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accessible tools such as Python, OpenCV, NumPy, and Colab.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75120" y="3261227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31B14"/>
          </a:solidFill>
          <a:ln w="1270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75818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expensive hardware or licensed software is required.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4416552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A1F29"/>
          </a:solidFill>
          <a:ln w="12700">
            <a:solidFill>
              <a:srgbClr val="D6DCE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DC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8646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user simply uploads an image and checks the highlighted result.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502920"/>
            <a:ext cx="3291840" cy="3291840"/>
          </a:xfrm>
          <a:prstGeom prst="ellipse">
            <a:avLst/>
          </a:prstGeom>
          <a:solidFill>
            <a:srgbClr val="FF7A00">
              <a:alpha val="15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1051560"/>
            <a:ext cx="2240280" cy="2240280"/>
          </a:xfrm>
          <a:prstGeom prst="ellipse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3063240"/>
            <a:ext cx="3108960" cy="1737360"/>
          </a:xfrm>
          <a:prstGeom prst="ellipse">
            <a:avLst/>
          </a:prstGeom>
          <a:solidFill>
            <a:srgbClr val="D6DCE3">
              <a:alpha val="8000"/>
            </a:srgbClr>
          </a:solidFill>
          <a:ln w="12700">
            <a:solidFill>
              <a:srgbClr val="D6DCE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5596128"/>
            <a:ext cx="1463040" cy="822960"/>
          </a:xfrm>
          <a:prstGeom prst="ellipse">
            <a:avLst/>
          </a:prstGeom>
          <a:solidFill>
            <a:srgbClr val="FF7A00">
              <a:alpha val="7000"/>
            </a:srgbClr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23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 &amp; future enhancements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1089964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20272" y="402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5544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EXECUTION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7922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7-week roadmap from topic selection to presentation preparation.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7008" y="2798064"/>
            <a:ext cx="9619488" cy="0"/>
          </a:xfrm>
          <a:prstGeom prst="line">
            <a:avLst/>
          </a:prstGeom>
          <a:noFill/>
          <a:ln w="15240">
            <a:solidFill>
              <a:srgbClr val="2530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14600"/>
            <a:ext cx="566928" cy="566928"/>
          </a:xfrm>
          <a:prstGeom prst="ellipse">
            <a:avLst/>
          </a:prstGeom>
          <a:solidFill>
            <a:srgbClr val="171E28"/>
          </a:solidFill>
          <a:ln w="1397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selection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research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2340864" y="2514600"/>
            <a:ext cx="566928" cy="566928"/>
          </a:xfrm>
          <a:prstGeom prst="ellipse">
            <a:avLst/>
          </a:prstGeom>
          <a:solidFill>
            <a:srgbClr val="171E28"/>
          </a:solidFill>
          <a:ln w="1397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study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strategy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3785616" y="2514600"/>
            <a:ext cx="566928" cy="566928"/>
          </a:xfrm>
          <a:prstGeom prst="ellipse">
            <a:avLst/>
          </a:prstGeom>
          <a:solidFill>
            <a:srgbClr val="171E28"/>
          </a:solidFill>
          <a:ln w="1397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21024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detection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5230368" y="2514600"/>
            <a:ext cx="566928" cy="566928"/>
          </a:xfrm>
          <a:prstGeom prst="ellipse">
            <a:avLst/>
          </a:prstGeom>
          <a:solidFill>
            <a:srgbClr val="171E28"/>
          </a:solidFill>
          <a:ln w="1397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65776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detection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false positives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675120" y="2514600"/>
            <a:ext cx="566928" cy="566928"/>
          </a:xfrm>
          <a:prstGeom prst="ellipse">
            <a:avLst/>
          </a:prstGeom>
          <a:solidFill>
            <a:srgbClr val="171E28"/>
          </a:solidFill>
          <a:ln w="13970">
            <a:solidFill>
              <a:srgbClr val="2530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0528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+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tuning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8119872" y="2514600"/>
            <a:ext cx="566928" cy="566928"/>
          </a:xfrm>
          <a:prstGeom prst="ellipse">
            <a:avLst/>
          </a:prstGeom>
          <a:solidFill>
            <a:srgbClr val="2A190F"/>
          </a:solidFill>
          <a:ln w="1397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code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results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9564624" y="2514600"/>
            <a:ext cx="566928" cy="566928"/>
          </a:xfrm>
          <a:prstGeom prst="ellipse">
            <a:avLst/>
          </a:prstGeom>
          <a:solidFill>
            <a:srgbClr val="2A190F"/>
          </a:solidFill>
          <a:ln w="13970">
            <a:solidFill>
              <a:srgbClr val="FF7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00032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+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804672" y="4590288"/>
            <a:ext cx="5074920" cy="1207008"/>
          </a:xfrm>
          <a:prstGeom prst="roundRect">
            <a:avLst>
              <a:gd name="adj" fmla="val 6061"/>
            </a:avLst>
          </a:prstGeom>
          <a:solidFill>
            <a:srgbClr val="121922"/>
          </a:solidFill>
          <a:ln w="12700">
            <a:solidFill>
              <a:srgbClr val="253041"/>
            </a:solidFill>
          </a:ln>
        </p:spPr>
        <p:txBody>
          <a:bodyPr wrap="square" lIns="2794" tIns="2794" rIns="2794" bIns="279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video / CCTV monitoring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models such as CNN or YOLO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alarm and notification system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Web/mobile deployment and dataset evaluation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1993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60547" y="5157215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prototype is simple, cost-effective, and suitable for academic demonstration—while providing a strong base for smarter real-time fire monitoring systems.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1082</Words>
  <Application>Microsoft Office PowerPoint</Application>
  <PresentationFormat>Widescreen</PresentationFormat>
  <Paragraphs>189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and Smoke Detection using OpenCV</dc:title>
  <dc:subject>Fire and Smoke Detection Project</dc:subject>
  <dc:creator>OpenAI</dc:creator>
  <cp:lastModifiedBy>Zia Saboor</cp:lastModifiedBy>
  <cp:revision>3</cp:revision>
  <dcterms:created xsi:type="dcterms:W3CDTF">2026-04-10T13:03:53Z</dcterms:created>
  <dcterms:modified xsi:type="dcterms:W3CDTF">2026-04-10T13:22:52Z</dcterms:modified>
</cp:coreProperties>
</file>